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embeddedFontLst>
    <p:embeddedFont>
      <p:font typeface="Pl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00yRV6b8RoGL5q8yGCL3bth/h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Play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Play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Boa tarde a todos. Meu nome é Jayme de Queiroz, eu sou aluno do Programa de Pós-Graduação em Engenharia Elétrica e Informática Industrial da UTFPR e hoje apresento a defesa da minha dissertação de mestrado entitulada Sistema de Rastreamento de Humanos para Ambientes Fechados utilizando fusão de sensores Triangulação Bluetooth Low Energy (BLE) e Radar de Ondas Milimétricas. Aproveito para agradecer a disponibilidade de todos, especialmente os membros da banca Professora Ana dos Reis e Professor Ohara Hayel e meus orientadores, Professor Glauber Brante e Professor Jamil Farhat.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47204b5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d47204b5c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bd52c8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principal motivação do trabalho surge das limitações atuais dos sistemas de localização. Enquanto o sinal do GPS funciona bem em ambientes externos com linha de visada, ele sofre bloqueio quase total em ambientes internos. Para contornar a limitação, existem sensores especializados em localização em ambientes fechados, os sensores discutidos neste trabalho são o radar mmwave e o BLE</a:t>
            </a:r>
            <a:endParaRPr/>
          </a:p>
        </p:txBody>
      </p:sp>
      <p:sp>
        <p:nvSpPr>
          <p:cNvPr id="100" name="Google Shape;100;g396bd52c84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48bec9d5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48bec9d5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6beaac27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6beaac27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7204b5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47204b5c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7204b5c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47204b5c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48bec9d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48bec9d5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6bd52c84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6bd52c843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6debafe7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6debafe74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6bd52c84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6bd52c843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debafe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96debafe74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47204b5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47204b5c0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6bd52c84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96bd52c843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6bd52c84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96bd52c843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6debafe7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6debafe74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6bd52c84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96bd52c843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47204b5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47204b5c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7204b5c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47204b5c0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26.jp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156083"/>
            <a:ext cx="9144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pt-BR" sz="4400">
                <a:latin typeface="Calibri"/>
                <a:ea typeface="Calibri"/>
                <a:cs typeface="Calibri"/>
                <a:sym typeface="Calibri"/>
              </a:rPr>
              <a:t>Sistema de Rastreamento de Humanos para Ambientes Fechados</a:t>
            </a:r>
            <a:endParaRPr b="1" sz="44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483050" y="3468579"/>
            <a:ext cx="91440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tilizando Fusão de Sensores Triangulação Bluetooth Low Energy e Radar De Ondas Milimétricas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524000" y="506695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Aluno: Jayme de Queiroz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Orientador: Glauber de Oliveira Brante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Coorientador: Jamil de Ara</a:t>
            </a:r>
            <a:r>
              <a:rPr b="1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 Farhat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838200" y="128428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da </a:t>
            </a: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838200" y="2354987"/>
            <a:ext cx="95631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Motivação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Configuração Experimental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 b="0" i="0" sz="22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47204b5c0_0_0"/>
          <p:cNvSpPr txBox="1"/>
          <p:nvPr>
            <p:ph type="ctrTitle"/>
          </p:nvPr>
        </p:nvSpPr>
        <p:spPr>
          <a:xfrm>
            <a:off x="1524000" y="2156083"/>
            <a:ext cx="9144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5000">
                <a:latin typeface="Calibri"/>
                <a:ea typeface="Calibri"/>
                <a:cs typeface="Calibri"/>
                <a:sym typeface="Calibri"/>
              </a:rPr>
              <a:t>Motivação</a:t>
            </a:r>
            <a:endParaRPr sz="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6bd52c843_0_6"/>
          <p:cNvSpPr txBox="1"/>
          <p:nvPr/>
        </p:nvSpPr>
        <p:spPr>
          <a:xfrm>
            <a:off x="683741" y="791295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Limitação de sistemas de localização em ambientes fechados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03" name="Google Shape;103;g396bd52c843_0_6" title="gnss_vs_ips_academi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4047" y="1459700"/>
            <a:ext cx="7503898" cy="447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8bec9d58_0_1"/>
          <p:cNvSpPr txBox="1"/>
          <p:nvPr/>
        </p:nvSpPr>
        <p:spPr>
          <a:xfrm>
            <a:off x="683741" y="791295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Sensores com c</a:t>
            </a: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aracterísticas</a:t>
            </a: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complementares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09" name="Google Shape;109;g3d48bec9d58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750" y="1459700"/>
            <a:ext cx="4431578" cy="473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d48bec9d58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7238" y="1459700"/>
            <a:ext cx="4431575" cy="4733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6beaac272_1_0"/>
          <p:cNvSpPr txBox="1"/>
          <p:nvPr/>
        </p:nvSpPr>
        <p:spPr>
          <a:xfrm>
            <a:off x="679375" y="953768"/>
            <a:ext cx="4326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Fusão de Sensores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16" name="Google Shape;116;g396beaac272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0213" y="1431375"/>
            <a:ext cx="7111575" cy="48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47204b5c0_0_6"/>
          <p:cNvSpPr txBox="1"/>
          <p:nvPr>
            <p:ph type="ctrTitle"/>
          </p:nvPr>
        </p:nvSpPr>
        <p:spPr>
          <a:xfrm>
            <a:off x="1524000" y="2156083"/>
            <a:ext cx="9144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5000"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5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838200" y="128428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38200" y="2344725"/>
            <a:ext cx="99093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objetivo do trabalho foi </a:t>
            </a: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desenvolver um sistema de rastreamento de humanos em ambientes fechados utilizando a fusão descentralizada de sensores mmWave Rad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e BLE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Pesquisar o estado da arte em sistemas de posicionamento em ambientes fechados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Propor um pipeline de pré-processamento e fusão descentralizada dos dois tipos de sensores;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Validar e comparar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os ganhos obtidos em comparação </a:t>
            </a: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com os sensores isolados.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47204b5c0_0_10"/>
          <p:cNvSpPr txBox="1"/>
          <p:nvPr>
            <p:ph type="ctrTitle"/>
          </p:nvPr>
        </p:nvSpPr>
        <p:spPr>
          <a:xfrm>
            <a:off x="1524000" y="2156083"/>
            <a:ext cx="9144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pt-BR"/>
              <a:t>Configuração Experimental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48bec9d58_0_6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8" name="Google Shape;138;g3d48bec9d58_0_6" title="labsc_2d_map.png"/>
          <p:cNvPicPr preferRelativeResize="0"/>
          <p:nvPr/>
        </p:nvPicPr>
        <p:blipFill rotWithShape="1">
          <a:blip r:embed="rId4">
            <a:alphaModFix/>
          </a:blip>
          <a:srcRect b="2648" l="5804" r="3510" t="1759"/>
          <a:stretch/>
        </p:blipFill>
        <p:spPr>
          <a:xfrm>
            <a:off x="1356783" y="1726555"/>
            <a:ext cx="4455775" cy="46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d48bec9d58_0_6"/>
          <p:cNvSpPr txBox="1"/>
          <p:nvPr/>
        </p:nvSpPr>
        <p:spPr>
          <a:xfrm>
            <a:off x="386165" y="598551"/>
            <a:ext cx="5152200" cy="11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Configuração Experimental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40" name="Google Shape;140;g3d48bec9d58_0_6"/>
          <p:cNvPicPr preferRelativeResize="0"/>
          <p:nvPr/>
        </p:nvPicPr>
        <p:blipFill rotWithShape="1">
          <a:blip r:embed="rId5">
            <a:alphaModFix/>
          </a:blip>
          <a:srcRect b="6743" l="19206" r="13806" t="0"/>
          <a:stretch/>
        </p:blipFill>
        <p:spPr>
          <a:xfrm>
            <a:off x="5903937" y="927568"/>
            <a:ext cx="5284475" cy="5255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838200" y="1284288"/>
            <a:ext cx="4326921" cy="1127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mmWave Radar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919425" y="2577352"/>
            <a:ext cx="43269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3378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Texas Instruments IWR6843ISK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33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Escolha e calibração do firmware </a:t>
            </a:r>
            <a:r>
              <a:rPr i="1"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Area Scanner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33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Desenvolvimento de aplicativo em C++ para aquisição e armazenamento de dados.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/>
          </a:blip>
          <a:srcRect b="2210" l="18085" r="18748" t="853"/>
          <a:stretch/>
        </p:blipFill>
        <p:spPr>
          <a:xfrm rot="-5400000">
            <a:off x="4939646" y="2007207"/>
            <a:ext cx="3294550" cy="28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5">
            <a:alphaModFix/>
          </a:blip>
          <a:srcRect b="5221" l="22082" r="8762" t="14817"/>
          <a:stretch/>
        </p:blipFill>
        <p:spPr>
          <a:xfrm>
            <a:off x="7949163" y="1895390"/>
            <a:ext cx="3800450" cy="30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/>
        </p:nvSpPr>
        <p:spPr>
          <a:xfrm>
            <a:off x="838200" y="1284288"/>
            <a:ext cx="4326921" cy="1127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 Triangulation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919427" y="2558850"/>
            <a:ext cx="424560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4x Antena A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rray </a:t>
            </a: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BRD4191A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4x 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Placa mãe 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BRD4002A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1x Tag EK4108A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4x Raspberry Pi 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Infraestrutura oriunda do projeto SIGIVEST.</a:t>
            </a:r>
            <a:endParaRPr/>
          </a:p>
        </p:txBody>
      </p:sp>
      <p:pic>
        <p:nvPicPr>
          <p:cNvPr descr="Bg22 pk6022a kit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3308" y="1080438"/>
            <a:ext cx="381000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41176" y="2324451"/>
            <a:ext cx="1675525" cy="13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0712" y="3924075"/>
            <a:ext cx="2221412" cy="222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0"/>
          <p:cNvPicPr preferRelativeResize="0"/>
          <p:nvPr/>
        </p:nvPicPr>
        <p:blipFill rotWithShape="1">
          <a:blip r:embed="rId7">
            <a:alphaModFix/>
          </a:blip>
          <a:srcRect b="0" l="13011" r="14504" t="0"/>
          <a:stretch/>
        </p:blipFill>
        <p:spPr>
          <a:xfrm>
            <a:off x="6352987" y="4227438"/>
            <a:ext cx="1950637" cy="16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/>
        </p:nvSpPr>
        <p:spPr>
          <a:xfrm>
            <a:off x="838200" y="128428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64" name="Google Shape;1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9720" y="1726650"/>
            <a:ext cx="3081821" cy="41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 txBox="1"/>
          <p:nvPr/>
        </p:nvSpPr>
        <p:spPr>
          <a:xfrm>
            <a:off x="386175" y="566250"/>
            <a:ext cx="51522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Arranjo Experimental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66" name="Google Shape;16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8865" y="4470825"/>
            <a:ext cx="1820925" cy="18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1272" y="2617997"/>
            <a:ext cx="1622001" cy="16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175" y="2618000"/>
            <a:ext cx="1622000" cy="16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73275" y="766004"/>
            <a:ext cx="3887925" cy="5521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6bd52c843_0_91"/>
          <p:cNvSpPr txBox="1"/>
          <p:nvPr/>
        </p:nvSpPr>
        <p:spPr>
          <a:xfrm>
            <a:off x="386900" y="551040"/>
            <a:ext cx="5735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Pós-processamento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75" name="Google Shape;175;g396bd52c843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171" y="4399625"/>
            <a:ext cx="2886074" cy="116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96bd52c843_0_91"/>
          <p:cNvPicPr preferRelativeResize="0"/>
          <p:nvPr/>
        </p:nvPicPr>
        <p:blipFill rotWithShape="1">
          <a:blip r:embed="rId5">
            <a:alphaModFix/>
          </a:blip>
          <a:srcRect b="1225" l="0" r="1225" t="0"/>
          <a:stretch/>
        </p:blipFill>
        <p:spPr>
          <a:xfrm>
            <a:off x="2055765" y="2618025"/>
            <a:ext cx="1759800" cy="17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96bd52c843_0_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900" y="2618022"/>
            <a:ext cx="1622001" cy="16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96bd52c843_0_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5575" y="553775"/>
            <a:ext cx="6165600" cy="575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6debafe74_0_51"/>
          <p:cNvSpPr txBox="1"/>
          <p:nvPr/>
        </p:nvSpPr>
        <p:spPr>
          <a:xfrm>
            <a:off x="386900" y="551050"/>
            <a:ext cx="105405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Fusão de trajetórias com contexto de covariância e espaço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84" name="Google Shape;184;g396debafe74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2650" y="1585250"/>
            <a:ext cx="4798400" cy="48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96debafe74_0_51"/>
          <p:cNvPicPr preferRelativeResize="0"/>
          <p:nvPr/>
        </p:nvPicPr>
        <p:blipFill rotWithShape="1">
          <a:blip r:embed="rId5">
            <a:alphaModFix/>
          </a:blip>
          <a:srcRect b="0" l="4684" r="10771" t="10322"/>
          <a:stretch/>
        </p:blipFill>
        <p:spPr>
          <a:xfrm>
            <a:off x="386900" y="3652325"/>
            <a:ext cx="4798400" cy="14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96debafe74_0_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925" y="2249625"/>
            <a:ext cx="4410359" cy="11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bd52c843_0_40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Amostras coletadas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92" name="Google Shape;192;g396bd52c843_0_40" title="trajectories_comparis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500" y="1952699"/>
            <a:ext cx="10226398" cy="41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96bd52c843_0_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6debafe74_0_15"/>
          <p:cNvSpPr txBox="1"/>
          <p:nvPr/>
        </p:nvSpPr>
        <p:spPr>
          <a:xfrm>
            <a:off x="679375" y="953775"/>
            <a:ext cx="5270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Avaliação de desempenho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99" name="Google Shape;199;g396debafe74_0_15"/>
          <p:cNvPicPr preferRelativeResize="0"/>
          <p:nvPr/>
        </p:nvPicPr>
        <p:blipFill rotWithShape="1">
          <a:blip r:embed="rId4">
            <a:alphaModFix/>
          </a:blip>
          <a:srcRect b="23306" l="3257" r="7988" t="14513"/>
          <a:stretch/>
        </p:blipFill>
        <p:spPr>
          <a:xfrm>
            <a:off x="2677700" y="1431387"/>
            <a:ext cx="7016625" cy="129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96debafe74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900" y="2705629"/>
            <a:ext cx="10732073" cy="383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47204b5c0_0_14"/>
          <p:cNvSpPr txBox="1"/>
          <p:nvPr>
            <p:ph type="ctrTitle"/>
          </p:nvPr>
        </p:nvSpPr>
        <p:spPr>
          <a:xfrm>
            <a:off x="1524000" y="2156083"/>
            <a:ext cx="9144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Resultados</a:t>
            </a:r>
            <a:endParaRPr b="1" sz="5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6bd52c843_0_56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11" name="Google Shape;211;g396bd52c843_0_56" title="trajectories_comparis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700" y="1952699"/>
            <a:ext cx="11101549" cy="40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6bd52c843_0_64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17" name="Google Shape;217;g396bd52c843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043" y="1682301"/>
            <a:ext cx="9860725" cy="4927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6debafe74_0_30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23" name="Google Shape;223;g396debafe74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50" y="1952700"/>
            <a:ext cx="11353800" cy="403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6bd52c843_0_31"/>
          <p:cNvSpPr txBox="1"/>
          <p:nvPr/>
        </p:nvSpPr>
        <p:spPr>
          <a:xfrm>
            <a:off x="919425" y="2175004"/>
            <a:ext cx="5162100" cy="3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33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mmWave Radar tem bom desempenho em cenários de curto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alcance,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enquanto apresenta alta variância em cenários com oclusões.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33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Calibri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BLE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performa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bem em cenários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em que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há oclusão do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radar,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mas tem alta variância caso o alvo esteja em direção ortogonal a uma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antena.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33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Calibri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 método proposto apresenta um </a:t>
            </a:r>
            <a:r>
              <a:rPr i="1"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footprint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menos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esparso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que as trajetórias 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individuais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96bd52c843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3375" y="1284300"/>
            <a:ext cx="4738975" cy="47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96bd52c843_0_31"/>
          <p:cNvSpPr txBox="1"/>
          <p:nvPr/>
        </p:nvSpPr>
        <p:spPr>
          <a:xfrm>
            <a:off x="838200" y="1284288"/>
            <a:ext cx="9453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47204b5c0_0_18"/>
          <p:cNvSpPr txBox="1"/>
          <p:nvPr>
            <p:ph type="ctrTitle"/>
          </p:nvPr>
        </p:nvSpPr>
        <p:spPr>
          <a:xfrm>
            <a:off x="1524000" y="2156083"/>
            <a:ext cx="9144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Conclusão</a:t>
            </a:r>
            <a:endParaRPr b="1" sz="5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 txBox="1"/>
          <p:nvPr/>
        </p:nvSpPr>
        <p:spPr>
          <a:xfrm>
            <a:off x="838200" y="128428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838200" y="2344718"/>
            <a:ext cx="9563100" cy="3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Oberva-se que o sistema proposto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Apresentou melhoria em todos os pontos do experimento com r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edução total no RMSE de </a:t>
            </a:r>
            <a:r>
              <a:rPr b="1"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42.8%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em relação ao BLE isolado e de </a:t>
            </a:r>
            <a:r>
              <a:rPr b="1"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25.4%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em relação ao mmWave isolado.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proveita a alta precisão do mmWave junto com a estabilidade geométrica das âncoras BLE.</a:t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Calibri"/>
              <a:buChar char="•"/>
            </a:pP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Equilibra os limites de cada tecnologia, suprimindo os saltos irreais de localização do BLE e a degradação de alcance do radar.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47204b5c0_0_22"/>
          <p:cNvSpPr txBox="1"/>
          <p:nvPr>
            <p:ph type="ctrTitle"/>
          </p:nvPr>
        </p:nvSpPr>
        <p:spPr>
          <a:xfrm>
            <a:off x="1524000" y="2156083"/>
            <a:ext cx="91440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Trabalhos Futuros</a:t>
            </a:r>
            <a:endParaRPr b="1" sz="5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/>
          <p:nvPr/>
        </p:nvSpPr>
        <p:spPr>
          <a:xfrm>
            <a:off x="838200" y="128428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838200" y="2344725"/>
            <a:ext cx="9563100" cy="4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700"/>
              <a:buChar char="•"/>
            </a:pP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Validação de Comportamentos Dinâmicos e Imprevisíveis: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Investigar o desempenho do sistema sob mudanças bruscas de direção e velocidades variáveis, utilizando sistemas de captura de movimento óptico ou plataformas robóticas para </a:t>
            </a:r>
            <a:r>
              <a:rPr i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alta precisão.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700"/>
              <a:buChar char="•"/>
            </a:pP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Mitigação de Sombreamento com Arquitetura Multi-Radar: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Expandir a estrutura com múltiplos radares mmWave, integrados de forma descentralizada no framework T2TF, para superar a perda de sinal (LOS) por obstáculos e garantir rastreamento contínuo.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700"/>
              <a:buChar char="•"/>
            </a:pP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Reconhecimento de Atividades e Fusão 3D: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Integrar dados de IMU (acelerômetro/giroscópio) para expandir o escopo para detecção de posturas e interação com objetos em 3D.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700"/>
              <a:buChar char="•"/>
            </a:pP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para Predição de Confiabilidade: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Substituir tabelas estáticas de covariância por Redes Neurais leves que aprendem a prever a confiabilidade dos sensores em tempo real, baseadas em características de sinal como RSSI e densidade da nuvem de pontos.</a:t>
            </a:r>
            <a:endParaRPr sz="27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 txBox="1"/>
          <p:nvPr/>
        </p:nvSpPr>
        <p:spPr>
          <a:xfrm>
            <a:off x="838200" y="128428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Agradecimentos</a:t>
            </a:r>
            <a:endParaRPr b="1" i="0" sz="6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838199" y="2344737"/>
            <a:ext cx="10260436" cy="2379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Aos membros da banca Profª. Ana dos Reis e Prof. Ohara Rayel.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Aos orientadores Prof. Glauber</a:t>
            </a:r>
            <a:r>
              <a:rPr lang="pt-BR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Brante e Prof. Jamil Farhat.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digo QR&#10;&#10;Descrição gerada automaticamente" id="263" name="Google Shape;2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4870" y="1251282"/>
            <a:ext cx="1957242" cy="217972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5"/>
          <p:cNvSpPr txBox="1"/>
          <p:nvPr/>
        </p:nvSpPr>
        <p:spPr>
          <a:xfrm>
            <a:off x="3583253" y="3947815"/>
            <a:ext cx="5022433" cy="303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jaymequeiroz@alunos.utfpr.edu.br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15"/>
          <p:cNvGrpSpPr/>
          <p:nvPr/>
        </p:nvGrpSpPr>
        <p:grpSpPr>
          <a:xfrm>
            <a:off x="2821255" y="4956068"/>
            <a:ext cx="6548338" cy="1487783"/>
            <a:chOff x="3212281" y="4956068"/>
            <a:chExt cx="6548338" cy="1487783"/>
          </a:xfrm>
        </p:grpSpPr>
        <p:sp>
          <p:nvSpPr>
            <p:cNvPr id="266" name="Google Shape;266;p15"/>
            <p:cNvSpPr txBox="1"/>
            <p:nvPr/>
          </p:nvSpPr>
          <p:spPr>
            <a:xfrm>
              <a:off x="3212281" y="5326434"/>
              <a:ext cx="3368091" cy="995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529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212529"/>
                  </a:solidFill>
                  <a:latin typeface="Calibri"/>
                  <a:ea typeface="Calibri"/>
                  <a:cs typeface="Calibri"/>
                  <a:sym typeface="Calibri"/>
                </a:rPr>
                <a:t>Av. Sete de Setembro, 3165 Rebouças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212529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212529"/>
                  </a:solidFill>
                  <a:latin typeface="Calibri"/>
                  <a:ea typeface="Calibri"/>
                  <a:cs typeface="Calibri"/>
                  <a:sym typeface="Calibri"/>
                </a:rPr>
                <a:t>80230-901 Curitiba PR Brasil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212529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212529"/>
                  </a:solidFill>
                  <a:latin typeface="Calibri"/>
                  <a:ea typeface="Calibri"/>
                  <a:cs typeface="Calibri"/>
                  <a:sym typeface="Calibri"/>
                </a:rPr>
                <a:t>+55 (41) 3310-4545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tipo&#10;&#10;Descrição gerada automaticamente" id="267" name="Google Shape;267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02592" y="4956068"/>
              <a:ext cx="3058027" cy="14877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2024-06-25T13:28:00Z</dcterms:created>
</cp:coreProperties>
</file>